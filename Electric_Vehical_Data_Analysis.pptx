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notesMasterIdLst>
    <p:notesMasterId r:id="rId7"/>
  </p:notesMasterIdLst>
  <p:sldIdLst>
    <p:sldId id="256" r:id="rId2"/>
    <p:sldId id="278" r:id="rId3"/>
    <p:sldId id="279" r:id="rId4"/>
    <p:sldId id="277" r:id="rId5"/>
    <p:sldId id="28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3E47AA-3CF5-454B-AC44-467773F25DC1}" v="150" dt="2025-11-20T16:28:42.552"/>
    <p1510:client id="{F01B8100-B07D-46B3-9FB8-EF1E567AA9D3}" v="15" dt="2025-11-21T05:06:37.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96" d="100"/>
          <a:sy n="96" d="100"/>
        </p:scale>
        <p:origin x="6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57B09-74FA-4148-8ACE-67874C6E3581}" type="datetimeFigureOut">
              <a:rPr lang="en-IN" smtClean="0"/>
              <a:t>15-05-2026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5B9B6D-6F2B-4330-B7B6-DC2783BF2230}" type="slidenum">
              <a:rPr lang="en-IN" smtClean="0"/>
              <a:t>‹#›</a:t>
            </a:fld>
            <a:endParaRPr lang="en-IN"/>
          </a:p>
        </p:txBody>
      </p:sp>
    </p:spTree>
    <p:extLst>
      <p:ext uri="{BB962C8B-B14F-4D97-AF65-F5344CB8AC3E}">
        <p14:creationId xmlns:p14="http://schemas.microsoft.com/office/powerpoint/2010/main" val="558957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7F8F3-53D2-41AB-995C-AFD86992C0A0}"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4284442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C7F8F3-53D2-41AB-995C-AFD86992C0A0}"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3108031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7F8F3-53D2-41AB-995C-AFD86992C0A0}"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1115259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C7F8F3-53D2-41AB-995C-AFD86992C0A0}"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138031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7F8F3-53D2-41AB-995C-AFD86992C0A0}" type="datetimeFigureOut">
              <a:rPr lang="en-IN" smtClean="0"/>
              <a:t>15-05-2026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2580836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7F8F3-53D2-41AB-995C-AFD86992C0A0}" type="datetimeFigureOut">
              <a:rPr lang="en-IN" smtClean="0"/>
              <a:t>15-05-2026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4276557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7F8F3-53D2-41AB-995C-AFD86992C0A0}" type="datetimeFigureOut">
              <a:rPr lang="en-IN" smtClean="0"/>
              <a:t>15-05-2026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3817618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7F8F3-53D2-41AB-995C-AFD86992C0A0}"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2387058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7F8F3-53D2-41AB-995C-AFD86992C0A0}"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395110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C7F8F3-53D2-41AB-995C-AFD86992C0A0}"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133172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C7F8F3-53D2-41AB-995C-AFD86992C0A0}"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162142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C7F8F3-53D2-41AB-995C-AFD86992C0A0}"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8C7595-3D0B-4DCC-8851-F3953BE1A2D6}"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12335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C7F8F3-53D2-41AB-995C-AFD86992C0A0}" type="datetimeFigureOut">
              <a:rPr lang="en-IN" smtClean="0"/>
              <a:t>15-05-2026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1157142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9C7F8F3-53D2-41AB-995C-AFD86992C0A0}" type="datetimeFigureOut">
              <a:rPr lang="en-IN" smtClean="0"/>
              <a:t>15-05-2026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3078540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9C7F8F3-53D2-41AB-995C-AFD86992C0A0}" type="datetimeFigureOut">
              <a:rPr lang="en-IN" smtClean="0"/>
              <a:t>15-05-2026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18345638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C7F8F3-53D2-41AB-995C-AFD86992C0A0}"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3680080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C7F8F3-53D2-41AB-995C-AFD86992C0A0}" type="datetimeFigureOut">
              <a:rPr lang="en-IN" smtClean="0"/>
              <a:t>15-05-2026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8C7595-3D0B-4DCC-8851-F3953BE1A2D6}" type="slidenum">
              <a:rPr lang="en-IN" smtClean="0"/>
              <a:t>‹#›</a:t>
            </a:fld>
            <a:endParaRPr lang="en-IN"/>
          </a:p>
        </p:txBody>
      </p:sp>
    </p:spTree>
    <p:extLst>
      <p:ext uri="{BB962C8B-B14F-4D97-AF65-F5344CB8AC3E}">
        <p14:creationId xmlns:p14="http://schemas.microsoft.com/office/powerpoint/2010/main" val="6381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9C7F8F3-53D2-41AB-995C-AFD86992C0A0}" type="datetimeFigureOut">
              <a:rPr lang="en-IN" smtClean="0"/>
              <a:t>15-05-2026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38C7595-3D0B-4DCC-8851-F3953BE1A2D6}" type="slidenum">
              <a:rPr lang="en-IN" smtClean="0"/>
              <a:t>‹#›</a:t>
            </a:fld>
            <a:endParaRPr lang="en-IN"/>
          </a:p>
        </p:txBody>
      </p:sp>
    </p:spTree>
    <p:extLst>
      <p:ext uri="{BB962C8B-B14F-4D97-AF65-F5344CB8AC3E}">
        <p14:creationId xmlns:p14="http://schemas.microsoft.com/office/powerpoint/2010/main" val="2932568744"/>
      </p:ext>
    </p:extLst>
  </p:cSld>
  <p:clrMap bg1="dk1" tx1="lt1" bg2="dk2" tx2="lt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 id="21474837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196B-C337-A9A3-2DB3-39C3508B386E}"/>
              </a:ext>
            </a:extLst>
          </p:cNvPr>
          <p:cNvSpPr>
            <a:spLocks noGrp="1"/>
          </p:cNvSpPr>
          <p:nvPr>
            <p:ph type="ctrTitle"/>
          </p:nvPr>
        </p:nvSpPr>
        <p:spPr>
          <a:xfrm>
            <a:off x="696448" y="2011657"/>
            <a:ext cx="10799103" cy="2387600"/>
          </a:xfrm>
        </p:spPr>
        <p:txBody>
          <a:bodyPr/>
          <a:lstStyle/>
          <a:p>
            <a:pPr algn="ctr"/>
            <a:r>
              <a:rPr lang="en-IN" sz="4000" b="1" dirty="0"/>
              <a:t>Electric Vehicle Data Analysis</a:t>
            </a:r>
            <a:br>
              <a:rPr lang="en-IN" sz="2800" dirty="0"/>
            </a:br>
            <a:br>
              <a:rPr lang="en-IN" sz="2800" b="1" dirty="0"/>
            </a:br>
            <a:r>
              <a:rPr lang="en-IN" sz="2800" b="1" dirty="0"/>
              <a:t>  </a:t>
            </a:r>
            <a:r>
              <a:rPr lang="en-US" sz="2400" b="1" dirty="0"/>
              <a:t> Key Insights Summary</a:t>
            </a:r>
            <a:br>
              <a:rPr lang="en-US" sz="5400" b="1" dirty="0"/>
            </a:br>
            <a:endParaRPr lang="en-IN" sz="2800" b="1" dirty="0"/>
          </a:p>
        </p:txBody>
      </p:sp>
    </p:spTree>
    <p:extLst>
      <p:ext uri="{BB962C8B-B14F-4D97-AF65-F5344CB8AC3E}">
        <p14:creationId xmlns:p14="http://schemas.microsoft.com/office/powerpoint/2010/main" val="3841945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F27835-C17B-CC16-90B8-245F73898901}"/>
              </a:ext>
            </a:extLst>
          </p:cNvPr>
          <p:cNvSpPr txBox="1"/>
          <p:nvPr/>
        </p:nvSpPr>
        <p:spPr>
          <a:xfrm>
            <a:off x="645132" y="147484"/>
            <a:ext cx="8852829" cy="1077218"/>
          </a:xfrm>
          <a:prstGeom prst="rect">
            <a:avLst/>
          </a:prstGeom>
          <a:noFill/>
        </p:spPr>
        <p:txBody>
          <a:bodyPr wrap="square" rtlCol="0">
            <a:spAutoFit/>
          </a:bodyPr>
          <a:lstStyle/>
          <a:p>
            <a:pPr marL="457200" indent="-457200">
              <a:buFont typeface="Wingdings" panose="05000000000000000000" pitchFamily="2" charset="2"/>
              <a:buChar char="Ø"/>
            </a:pPr>
            <a:endParaRPr lang="en-IN" sz="3200" b="1" dirty="0"/>
          </a:p>
          <a:p>
            <a:pPr marL="457200" indent="-457200">
              <a:buFont typeface="Wingdings" panose="05000000000000000000" pitchFamily="2" charset="2"/>
              <a:buChar char="Ø"/>
            </a:pPr>
            <a:r>
              <a:rPr lang="en-IN" sz="3200" b="1" dirty="0">
                <a:solidFill>
                  <a:srgbClr val="0070C0"/>
                </a:solidFill>
              </a:rPr>
              <a:t>Descriptive Analytics</a:t>
            </a:r>
            <a:r>
              <a:rPr lang="en-US" sz="3200" b="1" dirty="0">
                <a:solidFill>
                  <a:srgbClr val="0070C0"/>
                </a:solidFill>
              </a:rPr>
              <a:t> </a:t>
            </a:r>
            <a:endParaRPr lang="en-IN" sz="3200" b="1" dirty="0">
              <a:solidFill>
                <a:srgbClr val="0070C0"/>
              </a:solidFill>
            </a:endParaRPr>
          </a:p>
        </p:txBody>
      </p:sp>
      <p:sp>
        <p:nvSpPr>
          <p:cNvPr id="8" name="Rectangle 4">
            <a:extLst>
              <a:ext uri="{FF2B5EF4-FFF2-40B4-BE49-F238E27FC236}">
                <a16:creationId xmlns:a16="http://schemas.microsoft.com/office/drawing/2014/main" id="{E6FF7B83-4A6B-F92A-8FC1-3F340FCC7887}"/>
              </a:ext>
            </a:extLst>
          </p:cNvPr>
          <p:cNvSpPr>
            <a:spLocks noGrp="1" noChangeArrowheads="1"/>
          </p:cNvSpPr>
          <p:nvPr>
            <p:ph type="title"/>
          </p:nvPr>
        </p:nvSpPr>
        <p:spPr bwMode="auto">
          <a:xfrm>
            <a:off x="777652" y="1224702"/>
            <a:ext cx="872030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 EV adoption has grown exponentially over the last decade, not linearly.</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 BEVs now account for </a:t>
            </a:r>
            <a:r>
              <a:rPr kumimoji="0" lang="en-US" altLang="en-US" sz="2000" b="1" i="0" u="none" strike="noStrike" cap="none" normalizeH="0" baseline="0" dirty="0">
                <a:ln>
                  <a:noFill/>
                </a:ln>
                <a:solidFill>
                  <a:schemeClr val="tx1"/>
                </a:solidFill>
                <a:effectLst/>
              </a:rPr>
              <a:t>~78%</a:t>
            </a:r>
            <a:r>
              <a:rPr kumimoji="0" lang="en-US" altLang="en-US" sz="2000" b="0" i="0" u="none" strike="noStrike" cap="none" normalizeH="0" baseline="0" dirty="0">
                <a:ln>
                  <a:noFill/>
                </a:ln>
                <a:solidFill>
                  <a:schemeClr val="tx1"/>
                </a:solidFill>
                <a:effectLst/>
              </a:rPr>
              <a:t> of all EVs. PHEVs have become a minority.</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 Market concentration is extreme: </a:t>
            </a:r>
            <a:r>
              <a:rPr kumimoji="0" lang="en-US" altLang="en-US" sz="2000" b="1" i="0" u="none" strike="noStrike" cap="none" normalizeH="0" baseline="0" dirty="0">
                <a:ln>
                  <a:noFill/>
                </a:ln>
                <a:solidFill>
                  <a:schemeClr val="tx1"/>
                </a:solidFill>
                <a:effectLst/>
              </a:rPr>
              <a:t>King, Snohomish, and Pierce counties dominate registrations</a:t>
            </a:r>
            <a:r>
              <a:rPr kumimoji="0" lang="en-US" altLang="en-US" sz="2000" b="0" i="0" u="none" strike="noStrike" cap="none" normalizeH="0" baseline="0" dirty="0">
                <a:ln>
                  <a:noFill/>
                </a:ln>
                <a:solidFill>
                  <a:schemeClr val="tx1"/>
                </a:solidFill>
                <a:effectLst/>
              </a:rPr>
              <a:t> while other regions lag.</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 Tesla is the clear market leader by a huge margin (Model Y and Model 3 alone dominate the registrations).</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 Average electric range has increased significantly over time, proving technology maturity and improving product capability.</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 EV registrations cluster around infrastructure hubs, showing the importance of access and charging availability.</a:t>
            </a:r>
          </a:p>
        </p:txBody>
      </p:sp>
    </p:spTree>
    <p:extLst>
      <p:ext uri="{BB962C8B-B14F-4D97-AF65-F5344CB8AC3E}">
        <p14:creationId xmlns:p14="http://schemas.microsoft.com/office/powerpoint/2010/main" val="482266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657365B-FABF-096C-A645-4B00422B3B9A}"/>
              </a:ext>
            </a:extLst>
          </p:cNvPr>
          <p:cNvSpPr>
            <a:spLocks noGrp="1"/>
          </p:cNvSpPr>
          <p:nvPr>
            <p:ph type="title"/>
          </p:nvPr>
        </p:nvSpPr>
        <p:spPr>
          <a:xfrm>
            <a:off x="-1902724" y="1196745"/>
            <a:ext cx="9404723" cy="612526"/>
          </a:xfrm>
        </p:spPr>
        <p:txBody>
          <a:bodyPr>
            <a:normAutofit fontScale="90000"/>
          </a:bodyPr>
          <a:lstStyle/>
          <a:p>
            <a:pPr marL="457200" indent="-457200">
              <a:buFont typeface="Wingdings" panose="05000000000000000000" pitchFamily="2" charset="2"/>
              <a:buChar char="Ø"/>
            </a:pPr>
            <a:r>
              <a:rPr lang="en-IN" sz="3200" b="1" dirty="0">
                <a:solidFill>
                  <a:srgbClr val="0070C0"/>
                </a:solidFill>
                <a:latin typeface="+mn-lt"/>
                <a:ea typeface="+mn-ea"/>
                <a:cs typeface="+mn-cs"/>
              </a:rPr>
              <a:t>DIAGNOSTIC ANALYSIS</a:t>
            </a:r>
            <a:br>
              <a:rPr lang="en-US" sz="3200" b="1" dirty="0">
                <a:solidFill>
                  <a:srgbClr val="0070C0"/>
                </a:solidFill>
              </a:rPr>
            </a:br>
            <a:br>
              <a:rPr lang="en-US" sz="3200" b="1" dirty="0">
                <a:solidFill>
                  <a:srgbClr val="0070C0"/>
                </a:solidFill>
              </a:rPr>
            </a:br>
            <a:endParaRPr lang="en-IN" sz="2000" dirty="0">
              <a:solidFill>
                <a:srgbClr val="0070C0"/>
              </a:solidFill>
            </a:endParaRPr>
          </a:p>
        </p:txBody>
      </p:sp>
      <p:sp>
        <p:nvSpPr>
          <p:cNvPr id="14" name="Rectangle 10">
            <a:extLst>
              <a:ext uri="{FF2B5EF4-FFF2-40B4-BE49-F238E27FC236}">
                <a16:creationId xmlns:a16="http://schemas.microsoft.com/office/drawing/2014/main" id="{E7487D45-55C7-BB4A-C457-5EF386656499}"/>
              </a:ext>
            </a:extLst>
          </p:cNvPr>
          <p:cNvSpPr>
            <a:spLocks noChangeArrowheads="1"/>
          </p:cNvSpPr>
          <p:nvPr/>
        </p:nvSpPr>
        <p:spPr bwMode="auto">
          <a:xfrm rot="10800000" flipV="1">
            <a:off x="442911" y="1398592"/>
            <a:ext cx="959344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285750" defTabSz="914400" eaLnBrk="0" fontAlgn="base" hangingPunct="0">
              <a:spcBef>
                <a:spcPct val="0"/>
              </a:spcBef>
              <a:spcAft>
                <a:spcPct val="0"/>
              </a:spcAft>
              <a:buFontTx/>
              <a:buChar char="•"/>
            </a:pPr>
            <a:r>
              <a:rPr lang="en-US" altLang="en-US" sz="2000" dirty="0">
                <a:latin typeface="+mj-lt"/>
                <a:ea typeface="+mj-ea"/>
                <a:cs typeface="+mj-cs"/>
              </a:rPr>
              <a:t>Tesla changed market behavior by solving consumer needs: range, practicality, charging ecosystem—not just vehicles.</a:t>
            </a:r>
          </a:p>
          <a:p>
            <a:pPr marR="0" lvl="0" indent="-285750" defTabSz="914400" eaLnBrk="0" fontAlgn="base" hangingPunct="0">
              <a:lnSpc>
                <a:spcPct val="100000"/>
              </a:lnSpc>
              <a:spcBef>
                <a:spcPct val="0"/>
              </a:spcBef>
              <a:spcAft>
                <a:spcPct val="0"/>
              </a:spcAft>
              <a:buClrTx/>
              <a:buSzTx/>
              <a:buFontTx/>
              <a:buChar char="•"/>
              <a:tabLst/>
            </a:pPr>
            <a:endParaRPr lang="en-US" altLang="en-US" sz="2000" dirty="0">
              <a:latin typeface="+mj-lt"/>
              <a:ea typeface="+mj-ea"/>
              <a:cs typeface="+mj-cs"/>
            </a:endParaRPr>
          </a:p>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Market adoption correlates with tech maturity, income level, and infrastructure—not awareness or population alone.</a:t>
            </a:r>
          </a:p>
          <a:p>
            <a:pPr marR="0" lvl="0" indent="-285750" defTabSz="914400" eaLnBrk="0" fontAlgn="base" hangingPunct="0">
              <a:lnSpc>
                <a:spcPct val="100000"/>
              </a:lnSpc>
              <a:spcBef>
                <a:spcPct val="0"/>
              </a:spcBef>
              <a:spcAft>
                <a:spcPct val="0"/>
              </a:spcAft>
              <a:buClrTx/>
              <a:buSzTx/>
              <a:buFontTx/>
              <a:buChar char="•"/>
              <a:tabLst/>
            </a:pPr>
            <a:endParaRPr lang="en-US" altLang="en-US" sz="2000" dirty="0">
              <a:latin typeface="+mj-lt"/>
              <a:ea typeface="+mj-ea"/>
              <a:cs typeface="+mj-cs"/>
            </a:endParaRPr>
          </a:p>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Drops in early years and volatility reflect incomplete infrastructure and early “experimental” EV entries</a:t>
            </a:r>
          </a:p>
          <a:p>
            <a:pPr marR="0" lvl="0" defTabSz="914400" eaLnBrk="0" fontAlgn="base" hangingPunct="0">
              <a:lnSpc>
                <a:spcPct val="100000"/>
              </a:lnSpc>
              <a:spcBef>
                <a:spcPct val="0"/>
              </a:spcBef>
              <a:spcAft>
                <a:spcPct val="0"/>
              </a:spcAft>
              <a:buClrTx/>
              <a:buSzTx/>
              <a:tabLst/>
            </a:pPr>
            <a:endParaRPr lang="en-US" altLang="en-US" sz="2000" dirty="0">
              <a:latin typeface="+mj-lt"/>
              <a:ea typeface="+mj-ea"/>
              <a:cs typeface="+mj-cs"/>
            </a:endParaRPr>
          </a:p>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EV models succeed not because of range alone but because of product-market fit (Model Y &gt; Model 3, even though Model 3 has more range).</a:t>
            </a:r>
          </a:p>
        </p:txBody>
      </p:sp>
      <p:sp>
        <p:nvSpPr>
          <p:cNvPr id="6" name="Title 1">
            <a:extLst>
              <a:ext uri="{FF2B5EF4-FFF2-40B4-BE49-F238E27FC236}">
                <a16:creationId xmlns:a16="http://schemas.microsoft.com/office/drawing/2014/main" id="{5EF0094D-D8C1-6F4F-5F12-2D66FB4D3B91}"/>
              </a:ext>
            </a:extLst>
          </p:cNvPr>
          <p:cNvSpPr txBox="1">
            <a:spLocks/>
          </p:cNvSpPr>
          <p:nvPr/>
        </p:nvSpPr>
        <p:spPr>
          <a:xfrm>
            <a:off x="595311" y="646780"/>
            <a:ext cx="9404723" cy="612526"/>
          </a:xfrm>
          <a:prstGeom prst="rect">
            <a:avLst/>
          </a:prstGeom>
          <a:effectLst>
            <a:outerShdw blurRad="25400" dir="17880000">
              <a:srgbClr val="000000">
                <a:alpha val="46000"/>
              </a:srgbClr>
            </a:outerShdw>
          </a:effectLst>
        </p:spPr>
        <p:txBody>
          <a:bodyPr vert="horz" lIns="91440" tIns="45720" rIns="91440" bIns="45720" rtlCol="0" anchor="ctr">
            <a:normAutofit fontScale="975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2000" dirty="0">
              <a:solidFill>
                <a:schemeClr val="tx1"/>
              </a:solidFill>
            </a:endParaRPr>
          </a:p>
        </p:txBody>
      </p:sp>
    </p:spTree>
    <p:extLst>
      <p:ext uri="{BB962C8B-B14F-4D97-AF65-F5344CB8AC3E}">
        <p14:creationId xmlns:p14="http://schemas.microsoft.com/office/powerpoint/2010/main" val="2367401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1ABD222-9F19-5361-1379-CA08131DF911}"/>
              </a:ext>
            </a:extLst>
          </p:cNvPr>
          <p:cNvSpPr txBox="1"/>
          <p:nvPr/>
        </p:nvSpPr>
        <p:spPr>
          <a:xfrm>
            <a:off x="609600" y="629105"/>
            <a:ext cx="7708232" cy="584775"/>
          </a:xfrm>
          <a:prstGeom prst="rect">
            <a:avLst/>
          </a:prstGeom>
          <a:noFill/>
        </p:spPr>
        <p:txBody>
          <a:bodyPr wrap="square" rtlCol="0">
            <a:spAutoFit/>
          </a:bodyPr>
          <a:lstStyle/>
          <a:p>
            <a:pPr marL="457200" indent="-457200">
              <a:buFont typeface="Wingdings" panose="05000000000000000000" pitchFamily="2" charset="2"/>
              <a:buChar char="Ø"/>
            </a:pPr>
            <a:r>
              <a:rPr lang="en-IN" sz="3200" b="1" dirty="0">
                <a:solidFill>
                  <a:srgbClr val="0070C0"/>
                </a:solidFill>
              </a:rPr>
              <a:t>PRESCRIPTIVE ANALYSIS</a:t>
            </a:r>
          </a:p>
        </p:txBody>
      </p:sp>
      <p:sp>
        <p:nvSpPr>
          <p:cNvPr id="8" name="Rectangle 2">
            <a:extLst>
              <a:ext uri="{FF2B5EF4-FFF2-40B4-BE49-F238E27FC236}">
                <a16:creationId xmlns:a16="http://schemas.microsoft.com/office/drawing/2014/main" id="{E691B4BA-5149-C781-12CF-00623302B3F8}"/>
              </a:ext>
            </a:extLst>
          </p:cNvPr>
          <p:cNvSpPr>
            <a:spLocks noChangeArrowheads="1"/>
          </p:cNvSpPr>
          <p:nvPr/>
        </p:nvSpPr>
        <p:spPr bwMode="auto">
          <a:xfrm rot="10800000" flipV="1">
            <a:off x="609600" y="1366280"/>
            <a:ext cx="904774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Prioritize BEVs—not PHEVs—for infrastructure, incentives, and policy because the transition already happened.</a:t>
            </a:r>
          </a:p>
          <a:p>
            <a:pPr marR="0" lvl="0" defTabSz="914400" eaLnBrk="0" fontAlgn="base" hangingPunct="0">
              <a:lnSpc>
                <a:spcPct val="100000"/>
              </a:lnSpc>
              <a:spcBef>
                <a:spcPct val="0"/>
              </a:spcBef>
              <a:spcAft>
                <a:spcPct val="0"/>
              </a:spcAft>
              <a:buClrTx/>
              <a:buSzTx/>
              <a:tabLst/>
            </a:pPr>
            <a:endParaRPr lang="en-US" altLang="en-US" sz="2000" dirty="0">
              <a:latin typeface="+mj-lt"/>
              <a:ea typeface="+mj-ea"/>
              <a:cs typeface="+mj-cs"/>
            </a:endParaRPr>
          </a:p>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Expand charging and EV infrastructure in high-adoption counties first; scaling everywhere equally is inefficient.</a:t>
            </a:r>
          </a:p>
          <a:p>
            <a:pPr marR="0" lvl="0" defTabSz="914400" eaLnBrk="0" fontAlgn="base" hangingPunct="0">
              <a:lnSpc>
                <a:spcPct val="100000"/>
              </a:lnSpc>
              <a:spcBef>
                <a:spcPct val="0"/>
              </a:spcBef>
              <a:spcAft>
                <a:spcPct val="0"/>
              </a:spcAft>
              <a:buClrTx/>
              <a:buSzTx/>
              <a:tabLst/>
            </a:pPr>
            <a:endParaRPr lang="en-US" altLang="en-US" sz="2000" dirty="0">
              <a:latin typeface="+mj-lt"/>
              <a:ea typeface="+mj-ea"/>
              <a:cs typeface="+mj-cs"/>
            </a:endParaRPr>
          </a:p>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Market opportunity lies in SUVs and crossovers, not sedans—demand has shifted permanently.</a:t>
            </a:r>
          </a:p>
          <a:p>
            <a:pPr marR="0" lvl="0" defTabSz="914400" eaLnBrk="0" fontAlgn="base" hangingPunct="0">
              <a:lnSpc>
                <a:spcPct val="100000"/>
              </a:lnSpc>
              <a:spcBef>
                <a:spcPct val="0"/>
              </a:spcBef>
              <a:spcAft>
                <a:spcPct val="0"/>
              </a:spcAft>
              <a:buClrTx/>
              <a:buSzTx/>
              <a:tabLst/>
            </a:pPr>
            <a:endParaRPr lang="en-US" altLang="en-US" sz="2000" dirty="0">
              <a:latin typeface="+mj-lt"/>
              <a:ea typeface="+mj-ea"/>
              <a:cs typeface="+mj-cs"/>
            </a:endParaRPr>
          </a:p>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Low adoption regions don’t need marketing—they need cheaper entry and infrastructure development.</a:t>
            </a:r>
          </a:p>
          <a:p>
            <a:pPr marR="0" lvl="0" defTabSz="914400" eaLnBrk="0" fontAlgn="base" hangingPunct="0">
              <a:lnSpc>
                <a:spcPct val="100000"/>
              </a:lnSpc>
              <a:spcBef>
                <a:spcPct val="0"/>
              </a:spcBef>
              <a:spcAft>
                <a:spcPct val="0"/>
              </a:spcAft>
              <a:buClrTx/>
              <a:buSzTx/>
              <a:tabLst/>
            </a:pPr>
            <a:endParaRPr lang="en-US" altLang="en-US" sz="2000" dirty="0">
              <a:latin typeface="+mj-lt"/>
              <a:ea typeface="+mj-ea"/>
              <a:cs typeface="+mj-cs"/>
            </a:endParaRPr>
          </a:p>
          <a:p>
            <a:pPr marR="0" lvl="0" indent="-285750" defTabSz="914400" eaLnBrk="0" fontAlgn="base" hangingPunct="0">
              <a:lnSpc>
                <a:spcPct val="100000"/>
              </a:lnSpc>
              <a:spcBef>
                <a:spcPct val="0"/>
              </a:spcBef>
              <a:spcAft>
                <a:spcPct val="0"/>
              </a:spcAft>
              <a:buClrTx/>
              <a:buSzTx/>
              <a:buFontTx/>
              <a:buChar char="•"/>
              <a:tabLst/>
            </a:pPr>
            <a:r>
              <a:rPr lang="en-US" altLang="en-US" sz="2000" dirty="0">
                <a:latin typeface="+mj-lt"/>
                <a:ea typeface="+mj-ea"/>
                <a:cs typeface="+mj-cs"/>
              </a:rPr>
              <a:t>The next battleground is not vehicle manufacturing; it is charging coverage, affordability, and network density.</a:t>
            </a:r>
          </a:p>
        </p:txBody>
      </p:sp>
    </p:spTree>
    <p:extLst>
      <p:ext uri="{BB962C8B-B14F-4D97-AF65-F5344CB8AC3E}">
        <p14:creationId xmlns:p14="http://schemas.microsoft.com/office/powerpoint/2010/main" val="79177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FEA8D-0727-AD0A-6995-CED1641AF603}"/>
              </a:ext>
            </a:extLst>
          </p:cNvPr>
          <p:cNvSpPr>
            <a:spLocks noGrp="1"/>
          </p:cNvSpPr>
          <p:nvPr>
            <p:ph type="title"/>
          </p:nvPr>
        </p:nvSpPr>
        <p:spPr>
          <a:xfrm>
            <a:off x="-458866" y="2768600"/>
            <a:ext cx="8596668" cy="1320800"/>
          </a:xfrm>
        </p:spPr>
        <p:txBody>
          <a:bodyPr>
            <a:normAutofit/>
          </a:bodyPr>
          <a:lstStyle/>
          <a:p>
            <a:pPr algn="ctr"/>
            <a:r>
              <a:rPr lang="en-US" sz="4800" dirty="0"/>
              <a:t>THANKYOU… </a:t>
            </a:r>
            <a:endParaRPr lang="en-IN" sz="4800" dirty="0"/>
          </a:p>
        </p:txBody>
      </p:sp>
    </p:spTree>
    <p:extLst>
      <p:ext uri="{BB962C8B-B14F-4D97-AF65-F5344CB8AC3E}">
        <p14:creationId xmlns:p14="http://schemas.microsoft.com/office/powerpoint/2010/main" val="3861727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388</TotalTime>
  <Words>303</Words>
  <Application>Microsoft Office PowerPoint</Application>
  <PresentationFormat>Widescreen</PresentationFormat>
  <Paragraphs>28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Calibri</vt:lpstr>
      <vt:lpstr>Calisto MT</vt:lpstr>
      <vt:lpstr>Wingdings</vt:lpstr>
      <vt:lpstr>Wingdings 2</vt:lpstr>
      <vt:lpstr>Slate</vt:lpstr>
      <vt:lpstr>Electric Vehicle Data Analysis     Key Insights Summary </vt:lpstr>
      <vt:lpstr> EV adoption has grown exponentially over the last decade, not linearly.   BEVs now account for ~78% of all EVs. PHEVs have become a minority.   Market concentration is extreme: King, Snohomish, and Pierce counties dominate registrations while other regions lag.   Tesla is the clear market leader by a huge margin (Model Y and Model 3 alone dominate the registrations).   Average electric range has increased significantly over time, proving technology maturity and improving product capability.   EV registrations cluster around infrastructure hubs, showing the importance of access and charging availability.</vt:lpstr>
      <vt:lpstr>DIAGNOSTIC ANALYSIS  </vt:lpstr>
      <vt:lpstr>PowerPoint Presentation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Sripriya yadav</dc:creator>
  <cp:lastModifiedBy>pranjalipatil590@gmail.com</cp:lastModifiedBy>
  <cp:revision>14</cp:revision>
  <dcterms:created xsi:type="dcterms:W3CDTF">2025-11-20T14:56:14Z</dcterms:created>
  <dcterms:modified xsi:type="dcterms:W3CDTF">2026-05-15T12:55:22Z</dcterms:modified>
</cp:coreProperties>
</file>